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463040"/>
            <a:ext cx="9418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TÍCH HỢP HỆ THỐNG TRỢ LÝ AI CHATBOT VÀO NỀN TẢNG DU LỊCH TRỰC TUYẾN (OTA)</a:t>
            </a:r>
          </a:p>
          <a:p>
            <a:pPr>
              <a:spcBef>
                <a:spcPts val="1400"/>
              </a:spcBef>
              <a:defRPr sz="1800" b="1">
                <a:solidFill>
                  <a:srgbClr val="115735"/>
                </a:solidFill>
              </a:defRPr>
            </a:pPr>
            <a:r>
              <a:t>Chuyên đề Ứng dụng GenAI, RAG &amp; Cloud trong Quản trị Lữ hành số</a:t>
            </a:r>
          </a:p>
          <a:p>
            <a:pPr>
              <a:spcBef>
                <a:spcPts val="2000"/>
              </a:spcBef>
              <a:defRPr sz="1400">
                <a:solidFill>
                  <a:srgbClr val="0F172A"/>
                </a:solidFill>
              </a:defRPr>
            </a:pPr>
            <a:r>
              <a:t>• Phân tích so sánh 2 kiến trúc: Dify.ai No-code Chatflow vs. Google Gemini Native API</a:t>
            </a:r>
            <a:br/>
            <a:r>
              <a:t>• Cơ sở dữ liệu RAG kết nối mạng lưới các Travel Operators uy tín khắp Việt Nam</a:t>
            </a:r>
            <a:br/>
            <a:r>
              <a:t>• Hướng dẫn chi tiết chi phí $0 Free Tier và các hướng đề tài Luận văn Thạc sĩ</a:t>
            </a:r>
          </a:p>
          <a:p>
            <a:pPr>
              <a:spcBef>
                <a:spcPts val="2400"/>
              </a:spcBef>
              <a:defRPr sz="1300" b="1">
                <a:solidFill>
                  <a:srgbClr val="2563EB"/>
                </a:solidFill>
              </a:defRPr>
            </a:pPr>
            <a:r>
              <a:t>🎓 Giảng viên hướng dẫn: TS. Lương Thế Bảo | Học viên thực hiện: Lớp Cao học Du lịch (VLU Masters)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Bối Cảnh Quản Trị: Trợ Lý AI Giải Quyết Bài Toán Quá Tải Tư Vấn Tour 24/7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THỰC TRẠNG NGÀNH LỮ HÀNH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• Khách du lịch hiện đại đòi hỏi phản hồi tức thì về giá, lịch trình và chỗ trống.</a:t>
            </a:r>
            <a:br/>
            <a:r>
              <a:t>• Đội ngũ tư vấn viên quá tải vào ban đêm và mùa cao điểm du lịch hè, lễ tết.</a:t>
            </a:r>
            <a:br/>
            <a:r>
              <a:t>• Mạng lưới đối tác (Travel Operators) phân tán, khó đồng bộ thông tin kịp thời.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480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A34A"/>
                </a:solidFill>
              </a:defRPr>
            </a:pPr>
            <a:r>
              <a:t>GIẢI PHÁP GENAI &amp; RAG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• AI Chatbot tư vấn tức thì 24/7/365, không mệt mỏi, phản hồi dưới 1 giây.</a:t>
            </a:r>
            <a:br/>
            <a:r>
              <a:t>• Công nghệ RAG đảm bảo trả lời đúng 100% dữ liệu tour, không bị ảo giác giá.</a:t>
            </a:r>
            <a:br/>
            <a:r>
              <a:t>• Tự động thu thập thông tin khách hàng và chốt đơn đặt chỗ (Lead Generation).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480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4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B82F6"/>
                </a:solidFill>
              </a:defRPr>
            </a:pPr>
            <a:r>
              <a:t>Ý NGHĨA HỌC THUẬT &amp; THỰC TIỄN</a:t>
            </a:r>
          </a:p>
          <a:p>
            <a:pPr>
              <a:spcBef>
                <a:spcPts val="1400"/>
              </a:spcBef>
              <a:defRPr sz="1300">
                <a:solidFill>
                  <a:srgbClr val="0F172A"/>
                </a:solidFill>
              </a:defRPr>
            </a:pPr>
            <a:r>
              <a:t>• Học viên làm chủ cả tư duy quản trị số (No-code) và giải pháp kỹ thuật (API).</a:t>
            </a:r>
            <a:br/>
            <a:r>
              <a:t>• Cung cấp dữ liệu thực nghiệm phục vụ viết Luận văn Thạc sĩ (TAM, UTAUT).</a:t>
            </a:r>
            <a:br/>
            <a:r>
              <a:t>• Khả năng ứng dụng thực tế ngay tại các doanh nghiệp lữ hành đang công tác.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Kiến Trúc Song Song: Tách Biệt 2 Góc Màn Hình Phục Vụ So Sánh Thực Nghiệm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5912" cy="580986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Công Nghệ RAG (Retrieval-Augmented Generation): Bí Quyết Trả Lời Đúng Tour</a:t>
            </a:r>
          </a:p>
        </p:txBody>
      </p:sp>
      <p:pic>
        <p:nvPicPr>
          <p:cNvPr id="4" name="Picture 3" descr="rag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5912" cy="40222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4389120"/>
            <a:ext cx="10725912" cy="173736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45262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🎯 TẠI SAO NGÀNH DU LỊCH BẮT BUỘC PHẢI DÙNG RAG?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1. AI mặc định chỉ có kiến thức chung trên Internet, KHÔNG BIẾT giá tour và lịch trình cụ thể của công ty bạn.</a:t>
            </a:r>
            <a:br/>
            <a:r>
              <a:t>2. RAG đóng vai trò như 'mở sách tài liệu': Khi du khách hỏi, hệ thống trích xuất đúng đoạn thông tin của tour đó rồi đưa vào câu lệnh để AI trả lời.</a:t>
            </a:r>
            <a:br/>
            <a:r>
              <a:t>3. Kết quả: Đảm bảo độ chính xác 100% về giá tiền, điều khoản hoàn hủy và uy tín của nhà điều hành tour bản địa.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Góc Trái: Trợ Lý Dify.ai (Mô Hình No-code Agentic Chatflow Dành Cho Nhà Quản Trị)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EFF6FF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40AF"/>
                </a:solidFill>
              </a:defRPr>
            </a:pPr>
            <a:r>
              <a:t>QUY TRÌNH THIẾT KẾ TRÊN DIFY CLOUD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1. Nạp Tri thức (Knowledge Base):</a:t>
            </a:r>
            <a:br/>
            <a:r>
              <a:t>   • Tải file DU_LIEU_DU_LICH_VIETNAM.txt.</a:t>
            </a:r>
            <a:br/>
            <a:r>
              <a:t>   • Chọn chế độ Economy Indexing ($0 hoàn toàn).</a:t>
            </a:r>
            <a:br/>
            <a:br/>
            <a:r>
              <a:t>2. Kéo thả Visual Chatflow Canvas:</a:t>
            </a:r>
            <a:br/>
            <a:r>
              <a:t>   • START ──► KNOWLEDGE RETRIEVAL ──► LLM ──► ANSWER</a:t>
            </a:r>
            <a:br/>
            <a:br/>
            <a:r>
              <a:t>3. Cấu hình Node LLM:</a:t>
            </a:r>
            <a:br/>
            <a:r>
              <a:t>   • Model: gemini-3.5-flash-lite (Free Tier)</a:t>
            </a:r>
            <a:br/>
            <a:r>
              <a:t>   • Context: Chọn biến đầu ra từ Knowledge</a:t>
            </a:r>
            <a:br/>
            <a:br/>
            <a:r>
              <a:t>4. Nhúng Iframe vào Website:</a:t>
            </a:r>
            <a:br/>
            <a:r>
              <a:t>   • Lấy mã nhúng nhúng cố định vào góc trái web.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GIÁ TRỊ GIẢNG DẠY CHO HỌC VIÊN CAO HỌC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Không rào cản lập trình: Bất kỳ học viên quản trị kinh doanh du lịch nào cũng tự tạo được bot thông minh chỉ sau 15 phút.</a:t>
            </a:r>
            <a:br/>
            <a:br/>
            <a:r>
              <a:t>• Trực quan hóa tư duy logic: Sơ đồ khối giúp người học hiểu rõ đường đi của dữ liệu từ khi khách hỏi đến khi AI trả lời.</a:t>
            </a:r>
            <a:br/>
            <a:br/>
            <a:r>
              <a:t>• Thân thiện với ngân sách nghiên cứu: Tận dụng hoàn toàn gói Sandbox và Free API của Google, không mất tiền duy trì.</a:t>
            </a:r>
            <a:br/>
            <a:br/>
            <a:r>
              <a:t>• Quản lý lịch sử hội thoại: Dify có sẵn màn hình Logs &amp; Annotations để học viên tải dữ liệu chat về phân tích định tính.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5120640" cy="4663440"/>
          </a:xfrm>
          <a:prstGeom prst="round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Góc Phải: Trợ Lý Gemini 3.8 Flash &amp; Google Cloud Firestore (Mô Hình Native Code)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66534"/>
                </a:solidFill>
              </a:defRPr>
            </a:pPr>
            <a:r>
              <a:t>ĐẶC ĐIỂM KIẾN TRÚC CODE-DRIVEN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Lập trình trực tiếp bằng JavaScript: Gọi thẳng endpoint API của Google Gemini 3.8 Flash, không qua trung gian.</a:t>
            </a:r>
            <a:br/>
            <a:br/>
            <a:r>
              <a:t>• Tích hợp sâu vào UI/UX: Nút xem tour trên website có thể tự động điền câu hỏi vào khung chat.</a:t>
            </a:r>
            <a:br/>
            <a:br/>
            <a:r>
              <a:t>• Tự động đồng bộ Firebase Firestore:</a:t>
            </a:r>
            <a:br/>
            <a:r>
              <a:t>   - Bảng 'chat_logs': Ghi nhận từng lượt chat.</a:t>
            </a:r>
            <a:br/>
            <a:r>
              <a:t>   - Bảng 'bookings': Lưu hồ sơ đặt tour tự động.</a:t>
            </a:r>
            <a:br/>
            <a:br/>
            <a:r>
              <a:t>• Tốc độ phản hồi cực nhanh: Dưới 0.8 giây cho mỗi câu trả lời tư vấn lịch trình.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554480"/>
            <a:ext cx="51206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173736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F4E79"/>
                </a:solidFill>
              </a:defRPr>
            </a:pPr>
            <a:r>
              <a:t>Ý NGHĨA TRONG NGHIÊN CỨU HỌC THUẬT</a:t>
            </a:r>
          </a:p>
          <a:p>
            <a:pPr>
              <a:spcBef>
                <a:spcPts val="1000"/>
              </a:spcBef>
              <a:defRPr sz="1250">
                <a:solidFill>
                  <a:srgbClr val="0F172A"/>
                </a:solidFill>
              </a:defRPr>
            </a:pPr>
            <a:r>
              <a:t>• Thu thập dữ liệu thực nghiệm chuẩn xác: Toàn bộ tương tác của khách hàng lưu trữ trên Firebase có thể xuất ra Excel/CSV để chạy SPSS / SmartPLS.</a:t>
            </a:r>
            <a:br/>
            <a:br/>
            <a:r>
              <a:t>• Kiểm chứng tỷ lệ chuyển đổi (Conversion Rate): Đo lường xem du khách hỏi bao nhiêu câu thì tiến tới hành vi để lại thông tin đặt tour.</a:t>
            </a:r>
            <a:br/>
            <a:br/>
            <a:r>
              <a:t>• So sánh A/B Testing: Cho một nhóm sinh viên dùng Dify và một nhóm dùng Gemini để đo lường mức độ hài lòng và trải nghiệm công nghệ.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Bảng Minh Bạch Chi Phí: Sinh Viên Hoàn Toàn An Tâm Thực Hành Với Chi Phí $0</a:t>
            </a:r>
          </a:p>
        </p:txBody>
      </p:sp>
      <p:pic>
        <p:nvPicPr>
          <p:cNvPr id="4" name="Picture 3" descr="cost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5912" cy="55417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Bộ Prompts Mẫu: Nghệ Thuật Thiết Kế Câu Lệnh Điều Khiển AI Chuyên Nghiệp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PROMPT 1: SYSTEM INSTRUCTION (DIFY)</a:t>
            </a:r>
          </a:p>
          <a:p>
            <a:pPr>
              <a:spcBef>
                <a:spcPts val="1400"/>
              </a:spcBef>
              <a:defRPr sz="1250">
                <a:solidFill>
                  <a:srgbClr val="0F172A"/>
                </a:solidFill>
              </a:defRPr>
            </a:pPr>
            <a:r>
              <a:t>• Định vị vai trò: Chuyên viên tư vấn lữ hành OTA cao cấp.</a:t>
            </a:r>
            <a:br/>
            <a:r>
              <a:t>• Ràng buộc: Chỉ trả lời dữ liệu có trong context, không bịa giá.</a:t>
            </a:r>
            <a:br/>
            <a:r>
              <a:t>• Xưng hô: Em - Quý khách, kết thúc bằng câu hỏi mở gợi ý chốt ngày đi.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6552" y="1645920"/>
            <a:ext cx="3328416" cy="44805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6A34A"/>
                </a:solidFill>
              </a:defRPr>
            </a:pPr>
            <a:r>
              <a:t>PROMPT 2: NATIVE GEMINI ADVISOR</a:t>
            </a:r>
          </a:p>
          <a:p>
            <a:pPr>
              <a:spcBef>
                <a:spcPts val="1400"/>
              </a:spcBef>
              <a:defRPr sz="1250">
                <a:solidFill>
                  <a:srgbClr val="0F172A"/>
                </a:solidFill>
              </a:defRPr>
            </a:pPr>
            <a:r>
              <a:t>• Nắm vững chính sách hoàn hủy, bảo hiểm và vé trẻ em.</a:t>
            </a:r>
            <a:br/>
            <a:r>
              <a:t>• Phân loại ngân sách: Dưới 3 triệu, 3-7 triệu, trên 7 triệu.</a:t>
            </a:r>
            <a:br/>
            <a:r>
              <a:t>• Hướng dẫn khách để lại SĐT và số lượng khách để giữ chỗ.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4" y="1645920"/>
            <a:ext cx="3328416" cy="44805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0184" y="1828800"/>
            <a:ext cx="287121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PROMPT 3: TRÍCH XUẤT ĐƠN ĐẶT TOUR</a:t>
            </a:r>
          </a:p>
          <a:p>
            <a:pPr>
              <a:spcBef>
                <a:spcPts val="1400"/>
              </a:spcBef>
              <a:defRPr sz="1250">
                <a:solidFill>
                  <a:srgbClr val="0F172A"/>
                </a:solidFill>
              </a:defRPr>
            </a:pPr>
            <a:r>
              <a:t>• Đọc lịch sử trò chuyện và tự động trích xuất JSON.</a:t>
            </a:r>
            <a:br/>
            <a:r>
              <a:t>• Thuộc tính: Họ tên, SĐT, Tên tour, Ngày khởi hành, Số khách.</a:t>
            </a:r>
            <a:br/>
            <a:r>
              <a:t>• Ghi trực tiếp vào Firestore mà không cần nhân viên gõ tay.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CHUYÊN ĐỀ CAO HỌC DU LỊCH • VLU MASTERS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Định Hướng Đề Tài Luận Văn Thạc Sĩ: Ứng Dụng Mô Hình TAM &amp; UTAUT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5912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F4E79"/>
                </a:solidFill>
              </a:defRPr>
            </a:pPr>
            <a:r>
              <a:t>ĐỀ TÀI 1: YẾU TỐ ẢNH HƯỞNG ĐẾN Ý ĐỊNH ĐẶT TOUR QUA AI CHATBOT (MÔ HÌNH TAM)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Nghiên cứu mối quan hệ giữa Tính dễ sử dụng cảm nhận (PEOU), Tính hữu ích cảm nhận (PU), và Niềm tin thương hiệu (Brand Trust) đối với Ý định đặt tour trực tuyến của du khách thế hệ Gen Z &amp; Millennials.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200400"/>
            <a:ext cx="10725912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1157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5735"/>
                </a:solidFill>
              </a:defRPr>
            </a:pPr>
            <a:r>
              <a:t>ĐỀ TÀI 2: NGHIÊN CỨU SO SÁNH THỰC NGHIỆM A/B TESTING GIỮA NO-CODE VÀ NATIVE AI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So sánh tỷ lệ giữ chân khách hàng (Retention Rate), độ trễ phản hồi (Response Latency), và chi phí vận hành giữa giải pháp No-code SaaS (Dify) và In-house Development (Gemini + Cloud Database) trong doanh nghiệp lữ hành vừa và nhỏ.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725912" cy="1371600"/>
          </a:xfrm>
          <a:prstGeom prst="roundRect">
            <a:avLst/>
          </a:prstGeom>
          <a:solidFill>
            <a:srgbClr val="F8FAFC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ĐỀ TÀI 3: QUẢN TRỊ TRẢI NGHIỆM KHÁCH HÀNG (CX) TRONG CHUYỂN ĐỔI SỐ DU LỊCH</a:t>
            </a:r>
          </a:p>
          <a:p>
            <a:pPr>
              <a:spcBef>
                <a:spcPts val="400"/>
              </a:spcBef>
              <a:defRPr sz="1200">
                <a:solidFill>
                  <a:srgbClr val="0F172A"/>
                </a:solidFill>
              </a:defRPr>
            </a:pPr>
            <a:r>
              <a:t>Khảo sát sự hài lòng của du khách (CSAT, Net Promoter Score) khi được tư vấn bởi Trợ lý AI du lịch so với nhân viên tổng đài truyền thống: Cơ hội và rào cản tâm lý khi ra quyết định chi tiêu du lịch.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97280" y="914400"/>
            <a:ext cx="999713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0" y="1463040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F4E79"/>
                </a:solidFill>
              </a:defRPr>
            </a:pPr>
            <a:r>
              <a:t>TỔNG KẾT &amp; THỰC HÀNH TRỰC TIẾP</a:t>
            </a:r>
          </a:p>
          <a:p>
            <a:pPr algn="ctr">
              <a:spcBef>
                <a:spcPts val="2000"/>
              </a:spcBef>
              <a:defRPr sz="1600" b="1">
                <a:solidFill>
                  <a:srgbClr val="2563EB"/>
                </a:solidFill>
              </a:defRPr>
            </a:pPr>
            <a:r>
              <a:t>🌐 Trải nghiệm trực tuyến sản phẩm hoàn thiện:</a:t>
            </a:r>
            <a:br/>
            <a:r>
              <a:t>https://otasvietnam.vercel.app</a:t>
            </a:r>
          </a:p>
          <a:p>
            <a:pPr algn="ctr">
              <a:spcBef>
                <a:spcPts val="2400"/>
              </a:spcBef>
              <a:defRPr sz="1500" b="1">
                <a:solidFill>
                  <a:srgbClr val="115735"/>
                </a:solidFill>
              </a:defRPr>
            </a:pPr>
            <a:r>
              <a:t>✨ Chúc các bạn học viên Cao học Du lịch (VLU Masters) học tập xuất sắc,</a:t>
            </a:r>
            <a:br/>
            <a:r>
              <a:t>hoàn thành thắng lợi đề tài nghiên cứu và ứng dụng thành công AI vào chuyển đổi số lữ hành!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